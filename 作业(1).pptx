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918" r:id="rId2"/>
    <p:sldId id="919" r:id="rId3"/>
    <p:sldId id="921" r:id="rId4"/>
    <p:sldId id="922" r:id="rId5"/>
    <p:sldId id="923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4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4CFD6-C886-4803-8207-834CED882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5BA4C-9C99-44AA-A6D7-4D7AFBD4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C4A34-D172-4378-94FE-ADC8ECE44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68C3C9-D16B-4051-B0EB-029D2844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30794-CACD-4DEB-964B-E677D7A3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431AC3-BE24-440E-AFA8-50CC44591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B5E2AF-5DBA-4CE6-9165-8B93C453B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75C43D-2B3C-4BB7-8452-9F66EAB8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843E0-81CC-4502-B37E-F88A75DE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ABEA23-819A-4E11-BAE3-96FE6DD8D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85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4A0B4-1877-4CF0-A2B6-D42B87D62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6D20A-5775-451B-8560-C132577DF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4F78A6-A8B0-4017-BD02-1621F939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8DB0FD-0C60-4EE9-943A-0A0BC9C6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10BE8B-06F7-4DA1-9263-4F88DAAC8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29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D381B0-E09E-4ADD-A78D-FC8AF8B6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E9EAC9-65B0-48A5-A119-3AC02B027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382216-6172-4771-9253-012C70946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CB633F-160A-453A-BC13-ED6992A5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3A55AB-E65B-4956-873B-F88252BF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E6D96-2395-4BDE-91EB-31E4BFA3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21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79A8DC-6DA4-4BDE-A781-157B96012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B6D68E-35C6-49D7-93EC-0FDC2A4AC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C626E8-D6FB-4BA2-B0D3-CD89B6010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F136DB-A83C-4F48-BE42-967821668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183115-3C6E-4F1B-9E0F-0C68F359A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1A86FA2-45EC-4970-8E09-7DBA890E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B1297F-8A0D-4594-8A4F-BDBC16C1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6E824E-52CE-432F-9FE2-CF2552A22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11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4DDB4-DE0E-4379-AF2C-1C446677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A6F3D1-7F62-47C0-924A-E2186888A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7874E1-A557-4F19-93A3-BC1A1595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39999C-FF0E-4D3C-9799-5CCD46C5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92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6879F5-B62A-42E1-9F37-E219D1FC1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BB3F40-F50D-4356-8914-1C3BF74B0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633ED9-C2DC-4A4C-BB4E-D532EFF1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17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A67617-B955-422E-BD16-9C271EEB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F06DE-7358-40A5-B11C-56403F889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A8E3E2-9285-4FF0-A8E9-94BC4C9E2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B5452B-F7B0-4D82-AB86-803CEAE0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336F50-A0EA-4931-9219-AD39DE6A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9EE065-2D6D-4916-9E2C-467140AE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3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1A69B-F4B1-46B2-B29F-6381CE28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AB38C3-99F7-49A5-97F1-56A03D6469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85FB98-927B-4140-81C5-25641E379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47F47B-4C60-40F7-B2E4-DF0F44F2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637D4-3293-419D-95A9-5CE4BAB2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41C96C-B41D-40EC-BE6A-052A202C0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7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33742-3DEB-4DB1-8D80-006A2C22B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B68F21-7260-4F59-B60A-D76481C56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AC29C-6D58-4E6C-8477-49710F23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D6355A-FFF6-4C5A-BEDE-6E74F384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35D88A-970B-4801-817E-BF89020E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29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050F44-322C-45E8-AB86-542F6103C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8032C1-01AA-4037-8F1B-EC135EA05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1D886A-ADC0-4CE8-9F47-964FCBAD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742DD-33B5-44E8-A636-0F41929B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42AF1-BB6C-4971-B696-88517B5C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20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83D242-1010-4CC0-A232-CB7695FB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8AB183-D16E-4012-9FEE-E659257FC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B292E-0FEA-4196-BECE-D2AC29B99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36814-4B10-4FE8-95BA-3E2C42539402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0555A-DADB-47D1-9A22-6E3A91459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32981-B1D4-4BB9-8A11-47A906142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D1943-F4F4-49DC-AB45-746F479CA3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58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C3E8BACC-B83D-E515-6E06-F2ED1E0036BC}"/>
              </a:ext>
            </a:extLst>
          </p:cNvPr>
          <p:cNvSpPr txBox="1"/>
          <p:nvPr/>
        </p:nvSpPr>
        <p:spPr>
          <a:xfrm>
            <a:off x="-431800" y="26758"/>
            <a:ext cx="7366511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200000"/>
              </a:lnSpc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可预知异常客流预测</a:t>
            </a:r>
            <a:endParaRPr lang="en-US" altLang="zh-CN" sz="4800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9812E-5038-2284-6386-391BFC96E3DF}"/>
              </a:ext>
            </a:extLst>
          </p:cNvPr>
          <p:cNvSpPr/>
          <p:nvPr/>
        </p:nvSpPr>
        <p:spPr>
          <a:xfrm>
            <a:off x="0" y="0"/>
            <a:ext cx="12192000" cy="553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FF00"/>
                </a:solidFill>
              </a:rPr>
              <a:t>交通大数据处理与分析</a:t>
            </a:r>
            <a:r>
              <a:rPr lang="en-US" altLang="zh-CN" sz="2400" b="1" dirty="0">
                <a:solidFill>
                  <a:srgbClr val="FFFF00"/>
                </a:solidFill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</a:rPr>
              <a:t>大作业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01A6A1-AFB4-43D4-8B9E-6D3388B14831}"/>
              </a:ext>
            </a:extLst>
          </p:cNvPr>
          <p:cNvSpPr txBox="1"/>
          <p:nvPr/>
        </p:nvSpPr>
        <p:spPr>
          <a:xfrm>
            <a:off x="535364" y="1330961"/>
            <a:ext cx="10654397" cy="12233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大型活动（如体育赛事、演唱会、展会等）期间，城市轨道交通车站的客流呈现短时激增、规律性复杂等特征，给运营调度带来挑战。本作业要求利用两周的地铁自动售检票（</a:t>
            </a:r>
            <a:r>
              <a:rPr lang="en-US" altLang="zh-CN" dirty="0"/>
              <a:t>AFC</a:t>
            </a:r>
            <a:r>
              <a:rPr lang="zh-CN" altLang="en-US" dirty="0"/>
              <a:t>）刷卡数据，针对某大型活动日，完成以下核心任务：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56B34-D7C5-4B01-B615-841E1C2F1852}"/>
              </a:ext>
            </a:extLst>
          </p:cNvPr>
          <p:cNvSpPr txBox="1"/>
          <p:nvPr/>
        </p:nvSpPr>
        <p:spPr>
          <a:xfrm>
            <a:off x="651111" y="2904334"/>
            <a:ext cx="10654397" cy="27987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任务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1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：数据预处理与分析（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20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分）</a:t>
            </a:r>
            <a:endParaRPr lang="en-US" altLang="zh-CN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统计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天内每日总进站量、分时段（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30min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粒度）（早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6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点到晚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11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点）进站量分布。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识别缺失值、异常值，给出处理策略。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对比活动日（可通过社交媒体等数据获取）与非活动日的分时段（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15min/30min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粒度）进站量曲线，初步标注受活动影响的时段与车站。</a:t>
            </a:r>
          </a:p>
          <a:p>
            <a:pPr algn="l"/>
            <a:endParaRPr lang="en-US" altLang="zh-CN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endParaRPr lang="zh-CN" altLang="en-US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810154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C3E8BACC-B83D-E515-6E06-F2ED1E0036BC}"/>
              </a:ext>
            </a:extLst>
          </p:cNvPr>
          <p:cNvSpPr txBox="1"/>
          <p:nvPr/>
        </p:nvSpPr>
        <p:spPr>
          <a:xfrm>
            <a:off x="-431800" y="26758"/>
            <a:ext cx="7636536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200000"/>
              </a:lnSpc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可预知异常客流预测</a:t>
            </a:r>
            <a:endParaRPr lang="en-US" altLang="zh-CN" sz="4800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9812E-5038-2284-6386-391BFC96E3DF}"/>
              </a:ext>
            </a:extLst>
          </p:cNvPr>
          <p:cNvSpPr/>
          <p:nvPr/>
        </p:nvSpPr>
        <p:spPr>
          <a:xfrm>
            <a:off x="0" y="0"/>
            <a:ext cx="12192000" cy="553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FF00"/>
                </a:solidFill>
              </a:rPr>
              <a:t>交通大数据处理与分析</a:t>
            </a:r>
            <a:r>
              <a:rPr lang="en-US" altLang="zh-CN" sz="2400" b="1" dirty="0">
                <a:solidFill>
                  <a:srgbClr val="FFFF00"/>
                </a:solidFill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</a:rPr>
              <a:t>大作业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56B34-D7C5-4B01-B615-841E1C2F1852}"/>
              </a:ext>
            </a:extLst>
          </p:cNvPr>
          <p:cNvSpPr txBox="1"/>
          <p:nvPr/>
        </p:nvSpPr>
        <p:spPr>
          <a:xfrm>
            <a:off x="768795" y="1357719"/>
            <a:ext cx="10654397" cy="16202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任务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：聚类筛选和分析车站（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40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分）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以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30min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为粒度，构建每个车站在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14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天内的进站量时间序列。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采用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K-means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或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DBSCAN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聚类算法（需说明选择理由及参数调优过程），将车站分类。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可视化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：绘制活动日当天选定车站的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30min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进站量曲线，并与非活动日平均曲线对比。</a:t>
            </a:r>
            <a:endParaRPr lang="en-US" altLang="zh-CN" b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C19C51-A63C-4734-85FB-8BFCBADA0FB1}"/>
              </a:ext>
            </a:extLst>
          </p:cNvPr>
          <p:cNvSpPr txBox="1"/>
          <p:nvPr/>
        </p:nvSpPr>
        <p:spPr>
          <a:xfrm>
            <a:off x="768795" y="3182382"/>
            <a:ext cx="10654397" cy="3975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任务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：进站量预测模型构建（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4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0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分）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目标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：针对筛选出的活动影响车站，预测活动日时段的异常进站量。（根据车站预测即可）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思路可参考：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①预测常态进站量后，根据活动日异常客流时段进行修正；②直接筛选多个活动进行训练，直接进行对应活动的预测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评估指标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：平均绝对百分比误差（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MAPE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）、均方根误差（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RMSE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）。要求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最终预测模型的整体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MAPE ≤ 30%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（即精度≥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70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%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），其中活动日时段的异常进站量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MAPE ≤ 35% 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（即精度≥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65%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）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要求模型有一定的可解释性，即每个模块的作用介绍，不可盲目堆积算法模块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精度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精度≥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80%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额外加分</a:t>
            </a: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；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精度≥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9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再额外加分。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（精度注意不要出现信息泄露，导致模型精度虚高）</a:t>
            </a:r>
          </a:p>
          <a:p>
            <a:pPr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55861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C3E8BACC-B83D-E515-6E06-F2ED1E0036BC}"/>
              </a:ext>
            </a:extLst>
          </p:cNvPr>
          <p:cNvSpPr txBox="1"/>
          <p:nvPr/>
        </p:nvSpPr>
        <p:spPr>
          <a:xfrm>
            <a:off x="-143365" y="53516"/>
            <a:ext cx="4003484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200000"/>
              </a:lnSpc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设备预测</a:t>
            </a:r>
            <a:endParaRPr lang="en-US" altLang="zh-CN" sz="4800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9812E-5038-2284-6386-391BFC96E3DF}"/>
              </a:ext>
            </a:extLst>
          </p:cNvPr>
          <p:cNvSpPr/>
          <p:nvPr/>
        </p:nvSpPr>
        <p:spPr>
          <a:xfrm>
            <a:off x="0" y="0"/>
            <a:ext cx="12192000" cy="553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FF00"/>
                </a:solidFill>
              </a:rPr>
              <a:t>交通大数据处理与分析</a:t>
            </a:r>
            <a:r>
              <a:rPr lang="en-US" altLang="zh-CN" sz="2400" b="1" dirty="0">
                <a:solidFill>
                  <a:srgbClr val="FFFF00"/>
                </a:solidFill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</a:rPr>
              <a:t>大作业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A56B34-D7C5-4B01-B615-841E1C2F1852}"/>
              </a:ext>
            </a:extLst>
          </p:cNvPr>
          <p:cNvSpPr txBox="1"/>
          <p:nvPr/>
        </p:nvSpPr>
        <p:spPr>
          <a:xfrm>
            <a:off x="768795" y="1357719"/>
            <a:ext cx="10654397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本作业针对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AFC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（自动售检票）设备维修日志，实现设备故障间隔时间（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MTBF/Mean Time Between Failures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）预测，严格拆解为数据清洗、数据加工与特征筛选、问题定义与模型构建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3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个任务，提供可直接提交的完整代码、流程和报告内容。</a:t>
            </a:r>
            <a:endParaRPr lang="en-US" altLang="zh-CN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C19C51-A63C-4734-85FB-8BFCBADA0FB1}"/>
              </a:ext>
            </a:extLst>
          </p:cNvPr>
          <p:cNvSpPr txBox="1"/>
          <p:nvPr/>
        </p:nvSpPr>
        <p:spPr>
          <a:xfrm>
            <a:off x="768795" y="2612314"/>
            <a:ext cx="10654397" cy="39747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任务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1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：数据清洗及数据集构建（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20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分）</a:t>
            </a:r>
            <a:endParaRPr lang="en-US" altLang="zh-CN" b="1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目标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：本任务针对原始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AFC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维修日志开展标准化预处理工作。首先梳理日志包含的设备编号、故障时间、维修完成时间、故障类型、设备型号等全部字段，逐一排查并处理重复数据、缺失数据，对设备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ID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、故障时间、维修时间等核心关键字段。其次统一全表时间字段格式，修正时间录入错误，并校验数据逻辑合理性，删除维修完成时间早于故障发生时间、故障时间超出业务统计区间等异常记录。最终输出一份格式统一、逻辑正常、无脏数据的干净数据集，为后续数据分析与建模奠定数据基础。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评估指标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重复数据清除率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100%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，无冗余重复样本；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2.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核心关键字段缺失数据处理率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100%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，建模关键信息无缺失；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3.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时间字段格式统一率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100%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，无格式错乱、无法解析的时间数据；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4.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业务逻辑异常数据清零，不存在时间倒置、间隔异常等不合理样本；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5.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清洗后数据有效率达标，最大限度保留有效真实运维样本。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latin typeface="quote-cjk-patch"/>
              </a:rPr>
              <a:t>提供处理后数据集保存为</a:t>
            </a:r>
            <a:r>
              <a:rPr lang="en-US" altLang="zh-CN" b="1" dirty="0">
                <a:solidFill>
                  <a:srgbClr val="FF0000"/>
                </a:solidFill>
                <a:latin typeface="quote-cjk-patch"/>
              </a:rPr>
              <a:t>csv </a:t>
            </a:r>
            <a:endParaRPr lang="zh-CN" altLang="en-US" b="0" i="0" dirty="0">
              <a:solidFill>
                <a:srgbClr val="FF000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25407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C3E8BACC-B83D-E515-6E06-F2ED1E0036BC}"/>
              </a:ext>
            </a:extLst>
          </p:cNvPr>
          <p:cNvSpPr txBox="1"/>
          <p:nvPr/>
        </p:nvSpPr>
        <p:spPr>
          <a:xfrm>
            <a:off x="-431800" y="26758"/>
            <a:ext cx="3928533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200000"/>
              </a:lnSpc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设备预测</a:t>
            </a:r>
            <a:endParaRPr lang="en-US" altLang="zh-CN" sz="4800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9812E-5038-2284-6386-391BFC96E3DF}"/>
              </a:ext>
            </a:extLst>
          </p:cNvPr>
          <p:cNvSpPr/>
          <p:nvPr/>
        </p:nvSpPr>
        <p:spPr>
          <a:xfrm>
            <a:off x="0" y="0"/>
            <a:ext cx="12192000" cy="553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FF00"/>
                </a:solidFill>
              </a:rPr>
              <a:t>交通大数据处理与分析</a:t>
            </a:r>
            <a:r>
              <a:rPr lang="en-US" altLang="zh-CN" sz="2400" b="1" dirty="0">
                <a:solidFill>
                  <a:srgbClr val="FFFF00"/>
                </a:solidFill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</a:rPr>
              <a:t>大作业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C19C51-A63C-4734-85FB-8BFCBADA0FB1}"/>
              </a:ext>
            </a:extLst>
          </p:cNvPr>
          <p:cNvSpPr txBox="1"/>
          <p:nvPr/>
        </p:nvSpPr>
        <p:spPr>
          <a:xfrm>
            <a:off x="768795" y="1769034"/>
            <a:ext cx="10654397" cy="43671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任务二：数据加工及特征筛选（含考核指标）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20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分）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任务要求与内容：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在清洗完成的干净数据集基础上开展数据加工与特征优选工作。首先按单台设备分组、按故障时间排序，精准计算设备相邻两次故障的时间间隔，构建本次预测任务的核心目标变量（故障间隔时间）。其次完成特征工程，基于原始日志衍生时间特征、维修行为特征、设备历史故障统计特征，并对设备型号、故障类型等离散分类特征进行数字化编码。最后结合业务逻辑与相关性分析开展特征筛选，剔除无关特征、冗余特征、低区分度特征，保留对设备故障间隔变化具有显著影响的核心有效特征，降低模型维度与噪声，构建最终标准化建模数据集。</a:t>
            </a:r>
            <a:endParaRPr lang="en-US" altLang="zh-CN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本任务考核指标：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1.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故障间隔标签计算准确率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100%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，时序排序正确、间隔计算无偏差、无漏算错算；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2.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特征衍生合理有效，覆盖设备属性、时间属性、历史故障统计多维度特征；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3.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分类特征编码规范，无无效编码、无维度混乱问题；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4.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特征筛选科学，剔除高度冗余与弱相关特征，保留特征具备强业务解释性与高相关性；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5.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最终建模数据集无特征缺失、无维度冗余，样本与特征匹配完整。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quote-cjk-patch"/>
              </a:rPr>
              <a:t>报告提供相关可视化和统计等分析</a:t>
            </a:r>
            <a:endParaRPr lang="zh-CN" altLang="en-US" b="1" i="0" dirty="0">
              <a:solidFill>
                <a:srgbClr val="FF0000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420671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C3E8BACC-B83D-E515-6E06-F2ED1E0036BC}"/>
              </a:ext>
            </a:extLst>
          </p:cNvPr>
          <p:cNvSpPr txBox="1"/>
          <p:nvPr/>
        </p:nvSpPr>
        <p:spPr>
          <a:xfrm>
            <a:off x="-431800" y="26758"/>
            <a:ext cx="3928533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200000"/>
              </a:lnSpc>
              <a:defRPr/>
            </a:pPr>
            <a:r>
              <a:rPr lang="zh-CN" altLang="en-US" sz="4800" b="1" dirty="0">
                <a:solidFill>
                  <a:srgbClr val="002060"/>
                </a:solidFill>
                <a:latin typeface="楷体" pitchFamily="49" charset="-122"/>
                <a:ea typeface="楷体" pitchFamily="49" charset="-122"/>
              </a:rPr>
              <a:t>设备预测</a:t>
            </a:r>
            <a:endParaRPr lang="en-US" altLang="zh-CN" sz="4800" b="1" dirty="0">
              <a:solidFill>
                <a:srgbClr val="00206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89812E-5038-2284-6386-391BFC96E3DF}"/>
              </a:ext>
            </a:extLst>
          </p:cNvPr>
          <p:cNvSpPr/>
          <p:nvPr/>
        </p:nvSpPr>
        <p:spPr>
          <a:xfrm>
            <a:off x="0" y="0"/>
            <a:ext cx="12192000" cy="5535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FFFF00"/>
                </a:solidFill>
              </a:rPr>
              <a:t>交通大数据处理与分析</a:t>
            </a:r>
            <a:r>
              <a:rPr lang="en-US" altLang="zh-CN" sz="2400" b="1" dirty="0">
                <a:solidFill>
                  <a:srgbClr val="FFFF00"/>
                </a:solidFill>
              </a:rPr>
              <a:t>-</a:t>
            </a:r>
            <a:r>
              <a:rPr lang="zh-CN" altLang="en-US" sz="2400" b="1" dirty="0">
                <a:solidFill>
                  <a:srgbClr val="FFFF00"/>
                </a:solidFill>
              </a:rPr>
              <a:t>大作业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C19C51-A63C-4734-85FB-8BFCBADA0FB1}"/>
              </a:ext>
            </a:extLst>
          </p:cNvPr>
          <p:cNvSpPr txBox="1"/>
          <p:nvPr/>
        </p:nvSpPr>
        <p:spPr>
          <a:xfrm>
            <a:off x="768795" y="1769034"/>
            <a:ext cx="10654397" cy="51532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457200">
              <a:lnSpc>
                <a:spcPct val="150000"/>
              </a:lnSpc>
              <a:defRPr sz="17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任务三：问题定义和模型构建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（</a:t>
            </a:r>
            <a:r>
              <a:rPr lang="en-US" altLang="zh-CN" b="1" dirty="0">
                <a:solidFill>
                  <a:srgbClr val="0F1115"/>
                </a:solidFill>
                <a:latin typeface="quote-cjk-patch"/>
              </a:rPr>
              <a:t>6</a:t>
            </a:r>
            <a:r>
              <a:rPr lang="en-US" altLang="zh-CN" b="1" dirty="0">
                <a:solidFill>
                  <a:srgbClr val="0F1115"/>
                </a:solidFill>
                <a:effectLst/>
                <a:latin typeface="quote-cjk-patch"/>
              </a:rPr>
              <a:t>0</a:t>
            </a:r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分）</a:t>
            </a:r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任务要求与内容：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首先完成机器学习任务问题定义，结合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AFC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设备运维场景，明确本次任务为连续数值的回归预测任务，定义输入特征集与输出的设备故障间隔预测目标，确立模型量化评价标准。随后完成数据集划分，搭建适配设备时序运维数据的预测模型，完成模型训练、参数调优与泛化能力验证，通过对比实验优选最优预测模型。同时分析各核心特征对设备故障间隔的影响权重，结合模型预测效果总结模型可行性与业务应用价值，实现对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AFC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设备故障周期的有效预判，支撑预防性运维调度。</a:t>
            </a:r>
            <a:endParaRPr lang="en-US" altLang="zh-CN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zh-CN" altLang="en-US" b="1" dirty="0">
                <a:solidFill>
                  <a:srgbClr val="0F1115"/>
                </a:solidFill>
                <a:effectLst/>
                <a:latin typeface="quote-cjk-patch"/>
              </a:rPr>
              <a:t>本任务考核指标：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1.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问题定义清晰准确，任务类型、输入输出、业务场景界定无误；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2.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数据集划分合理，训练集、测试集比例规范、数据无交叉泄露；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3.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模型构建完整可行，可有效拟合故障间隔数据规律；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4.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模型量化指标达标（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MAE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、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RMSE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MAPE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），具备良好预测精度与泛化能力；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5. </a:t>
            </a:r>
            <a:r>
              <a:rPr lang="zh-CN" altLang="en-US" dirty="0">
                <a:solidFill>
                  <a:srgbClr val="0F1115"/>
                </a:solidFill>
                <a:effectLst/>
                <a:latin typeface="quote-cjk-patch"/>
              </a:rPr>
              <a:t>特征可解释性强，能够明确关键影响因子，模型结果具备实际运维参考价值。</a:t>
            </a:r>
            <a:r>
              <a:rPr lang="en-US" altLang="zh-CN" dirty="0">
                <a:solidFill>
                  <a:srgbClr val="0F1115"/>
                </a:solidFill>
                <a:effectLst/>
                <a:latin typeface="quote-cjk-patch"/>
              </a:rPr>
              <a:t>——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quote-cjk-patch"/>
              </a:rPr>
              <a:t>报告对实验过程详细描述，提供训练好最终模型（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quote-cjk-patch"/>
              </a:rPr>
              <a:t>.</a:t>
            </a:r>
            <a:r>
              <a:rPr lang="en-US" altLang="zh-CN" b="1" dirty="0" err="1">
                <a:solidFill>
                  <a:srgbClr val="FF0000"/>
                </a:solidFill>
                <a:effectLst/>
                <a:latin typeface="quote-cjk-patch"/>
              </a:rPr>
              <a:t>pth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quote-cjk-patch"/>
              </a:rPr>
              <a:t>）</a:t>
            </a:r>
            <a:endParaRPr lang="en-US" altLang="zh-CN" b="1" dirty="0">
              <a:solidFill>
                <a:srgbClr val="FF0000"/>
              </a:solidFill>
              <a:effectLst/>
              <a:latin typeface="quote-cjk-patch"/>
            </a:endParaRPr>
          </a:p>
          <a:p>
            <a:pPr algn="l"/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精度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(1-MAPE)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最终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精度≥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65%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；精度提升至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70%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加分，精度≥</a:t>
            </a:r>
            <a:r>
              <a:rPr lang="en-US" altLang="zh-CN" dirty="0">
                <a:solidFill>
                  <a:srgbClr val="0F1115"/>
                </a:solidFill>
                <a:latin typeface="quote-cjk-patch"/>
              </a:rPr>
              <a:t>8</a:t>
            </a:r>
            <a:r>
              <a:rPr lang="en-US" altLang="zh-CN" i="0" dirty="0">
                <a:solidFill>
                  <a:srgbClr val="0F1115"/>
                </a:solidFill>
                <a:effectLst/>
                <a:latin typeface="quote-cjk-patch"/>
              </a:rPr>
              <a:t>0%</a:t>
            </a:r>
            <a:r>
              <a:rPr lang="zh-CN" altLang="en-US" i="0" dirty="0">
                <a:solidFill>
                  <a:srgbClr val="0F1115"/>
                </a:solidFill>
                <a:effectLst/>
                <a:latin typeface="quote-cjk-patch"/>
              </a:rPr>
              <a:t>再额外加分。（精度注意不要出现信息泄露，导致模型精度虚高）</a:t>
            </a:r>
          </a:p>
          <a:p>
            <a:pPr algn="l"/>
            <a:endParaRPr lang="zh-CN" altLang="en-US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83169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1329</Words>
  <Application>Microsoft Office PowerPoint</Application>
  <PresentationFormat>宽屏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quote-cjk-patch</vt:lpstr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子扬 叶</dc:creator>
  <cp:lastModifiedBy>子扬 叶</cp:lastModifiedBy>
  <cp:revision>25</cp:revision>
  <dcterms:created xsi:type="dcterms:W3CDTF">2026-06-08T02:15:32Z</dcterms:created>
  <dcterms:modified xsi:type="dcterms:W3CDTF">2026-06-08T03:43:21Z</dcterms:modified>
</cp:coreProperties>
</file>